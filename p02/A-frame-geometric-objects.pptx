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0"/>
  </p:notesMasterIdLst>
  <p:sldIdLst>
    <p:sldId id="296" r:id="rId2"/>
    <p:sldId id="298" r:id="rId3"/>
    <p:sldId id="259" r:id="rId4"/>
    <p:sldId id="290" r:id="rId5"/>
    <p:sldId id="282" r:id="rId6"/>
    <p:sldId id="299" r:id="rId7"/>
    <p:sldId id="270" r:id="rId8"/>
    <p:sldId id="280" r:id="rId9"/>
    <p:sldId id="284" r:id="rId10"/>
    <p:sldId id="274" r:id="rId11"/>
    <p:sldId id="272" r:id="rId12"/>
    <p:sldId id="277" r:id="rId13"/>
    <p:sldId id="285" r:id="rId14"/>
    <p:sldId id="287" r:id="rId15"/>
    <p:sldId id="288" r:id="rId16"/>
    <p:sldId id="279" r:id="rId17"/>
    <p:sldId id="283" r:id="rId18"/>
    <p:sldId id="297" r:id="rId19"/>
  </p:sldIdLst>
  <p:sldSz cx="12192000" cy="6858000"/>
  <p:notesSz cx="7019925" cy="9305925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85D5D4D-EA75-451E-B4D6-1DB6E62C781C}" v="498" dt="2023-10-09T00:16:44.37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vertBarState="minimized">
    <p:restoredLeft sz="0" autoAdjust="0"/>
    <p:restoredTop sz="91883" autoAdjust="0"/>
  </p:normalViewPr>
  <p:slideViewPr>
    <p:cSldViewPr snapToGrid="0">
      <p:cViewPr varScale="1">
        <p:scale>
          <a:sx n="89" d="100"/>
          <a:sy n="89" d="100"/>
        </p:scale>
        <p:origin x="924" y="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41968" cy="466912"/>
          </a:xfrm>
          <a:prstGeom prst="rect">
            <a:avLst/>
          </a:prstGeom>
        </p:spPr>
        <p:txBody>
          <a:bodyPr vert="horz" lIns="93287" tIns="46644" rIns="93287" bIns="46644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6333" y="0"/>
            <a:ext cx="3041968" cy="466912"/>
          </a:xfrm>
          <a:prstGeom prst="rect">
            <a:avLst/>
          </a:prstGeom>
        </p:spPr>
        <p:txBody>
          <a:bodyPr vert="horz" lIns="93287" tIns="46644" rIns="93287" bIns="46644" rtlCol="0"/>
          <a:lstStyle>
            <a:lvl1pPr algn="r">
              <a:defRPr sz="1200"/>
            </a:lvl1pPr>
          </a:lstStyle>
          <a:p>
            <a:fld id="{FA1E3CD0-6E24-4AC0-945A-82AEC1490673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19138" y="1163638"/>
            <a:ext cx="5581650" cy="31400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287" tIns="46644" rIns="93287" bIns="46644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993" y="4478476"/>
            <a:ext cx="5615940" cy="3664208"/>
          </a:xfrm>
          <a:prstGeom prst="rect">
            <a:avLst/>
          </a:prstGeom>
        </p:spPr>
        <p:txBody>
          <a:bodyPr vert="horz" lIns="93287" tIns="46644" rIns="93287" bIns="46644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39014"/>
            <a:ext cx="3041968" cy="466911"/>
          </a:xfrm>
          <a:prstGeom prst="rect">
            <a:avLst/>
          </a:prstGeom>
        </p:spPr>
        <p:txBody>
          <a:bodyPr vert="horz" lIns="93287" tIns="46644" rIns="93287" bIns="46644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6333" y="8839014"/>
            <a:ext cx="3041968" cy="466911"/>
          </a:xfrm>
          <a:prstGeom prst="rect">
            <a:avLst/>
          </a:prstGeom>
        </p:spPr>
        <p:txBody>
          <a:bodyPr vert="horz" lIns="93287" tIns="46644" rIns="93287" bIns="46644" rtlCol="0" anchor="b"/>
          <a:lstStyle>
            <a:lvl1pPr algn="r">
              <a:defRPr sz="1200"/>
            </a:lvl1pPr>
          </a:lstStyle>
          <a:p>
            <a:fld id="{9BA6B424-CA33-4A3E-9131-9279D1BF93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8470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framevr/sample-assets" TargetMode="External"/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s://www.shadedrelief.com/natural3/pages/textures.html" TargetMode="External"/></Relationships>
</file>

<file path=ppt/notesSlides/_rels/notes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framevr/sample-assets" TargetMode="External"/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s://www.shadedrelief.com/natural3/pages/textures.html" TargetMode="Externa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https://aframe.io/docs/1.5.0/components/geometry.html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A6B424-CA33-4A3E-9131-9279D1BF9385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619471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src</a:t>
            </a:r>
            <a:r>
              <a:rPr lang="en-US" dirty="0"/>
              <a:t>="./waternormals.jpg”</a:t>
            </a:r>
          </a:p>
          <a:p>
            <a:r>
              <a:rPr lang="en-US" dirty="0" err="1">
                <a:solidFill>
                  <a:schemeClr val="accent1"/>
                </a:solidFill>
              </a:rPr>
              <a:t>src</a:t>
            </a:r>
            <a:r>
              <a:rPr lang="en-US" dirty="0">
                <a:solidFill>
                  <a:schemeClr val="accent1"/>
                </a:solidFill>
              </a:rPr>
              <a:t>="./1_earth_8k.jpg"</a:t>
            </a:r>
            <a:r>
              <a:rPr lang="en-US" dirty="0"/>
              <a:t> </a:t>
            </a:r>
          </a:p>
          <a:p>
            <a:endParaRPr lang="en-US" dirty="0"/>
          </a:p>
          <a:p>
            <a:pPr defTabSz="932871">
              <a:defRPr/>
            </a:pPr>
            <a:r>
              <a:rPr lang="en-US" dirty="0">
                <a:ea typeface="Calibri" panose="020F0502020204030204"/>
                <a:cs typeface="Calibri" panose="020F0502020204030204"/>
                <a:hlinkClick r:id="rId3"/>
              </a:rPr>
              <a:t>https://github.com/aframevr/sample-assets</a:t>
            </a:r>
            <a:r>
              <a:rPr lang="en-US" dirty="0">
                <a:ea typeface="Calibri" panose="020F0502020204030204"/>
                <a:cs typeface="Calibri" panose="020F0502020204030204"/>
              </a:rPr>
              <a:t> </a:t>
            </a:r>
          </a:p>
          <a:p>
            <a:pPr defTabSz="932871">
              <a:defRPr/>
            </a:pPr>
            <a:r>
              <a:rPr lang="en-US" dirty="0">
                <a:ea typeface="Calibri" panose="020F0502020204030204"/>
                <a:cs typeface="Calibri" panose="020F0502020204030204"/>
              </a:rPr>
              <a:t> </a:t>
            </a:r>
            <a:r>
              <a:rPr lang="en-US" dirty="0">
                <a:hlinkClick r:id="rId4"/>
              </a:rPr>
              <a:t>https://www.shadedrelief.com/natural3/pages/textures.html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68DB89-C76A-451A-996D-4E290BC9251E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332401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src</a:t>
            </a:r>
            <a:r>
              <a:rPr lang="en-US" dirty="0"/>
              <a:t>="./waternormals.jpg”</a:t>
            </a:r>
          </a:p>
          <a:p>
            <a:r>
              <a:rPr lang="en-US" dirty="0" err="1">
                <a:solidFill>
                  <a:schemeClr val="accent1"/>
                </a:solidFill>
              </a:rPr>
              <a:t>src</a:t>
            </a:r>
            <a:r>
              <a:rPr lang="en-US" dirty="0">
                <a:solidFill>
                  <a:schemeClr val="accent1"/>
                </a:solidFill>
              </a:rPr>
              <a:t>="./1_earth_8k.jpg"</a:t>
            </a:r>
            <a:r>
              <a:rPr lang="en-US" dirty="0"/>
              <a:t> </a:t>
            </a:r>
          </a:p>
          <a:p>
            <a:endParaRPr lang="en-US" dirty="0"/>
          </a:p>
          <a:p>
            <a:pPr defTabSz="932871">
              <a:defRPr/>
            </a:pPr>
            <a:r>
              <a:rPr lang="en-US" dirty="0">
                <a:ea typeface="Calibri" panose="020F0502020204030204"/>
                <a:cs typeface="Calibri" panose="020F0502020204030204"/>
                <a:hlinkClick r:id="rId3"/>
              </a:rPr>
              <a:t>https://github.com/aframevr/sample-assets</a:t>
            </a:r>
            <a:r>
              <a:rPr lang="en-US" dirty="0">
                <a:ea typeface="Calibri" panose="020F0502020204030204"/>
                <a:cs typeface="Calibri" panose="020F0502020204030204"/>
              </a:rPr>
              <a:t> </a:t>
            </a:r>
          </a:p>
          <a:p>
            <a:pPr defTabSz="932871">
              <a:defRPr/>
            </a:pPr>
            <a:r>
              <a:rPr lang="en-US" dirty="0">
                <a:ea typeface="Calibri" panose="020F0502020204030204"/>
                <a:cs typeface="Calibri" panose="020F0502020204030204"/>
              </a:rPr>
              <a:t> </a:t>
            </a:r>
            <a:r>
              <a:rPr lang="en-US" dirty="0">
                <a:hlinkClick r:id="rId4"/>
              </a:rPr>
              <a:t>https://www.shadedrelief.com/natural3/pages/textures.html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68DB89-C76A-451A-996D-4E290BC9251E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928238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drive.google.com/file/d/1_GDTB5OVpz0CC5DPpdiDbJgHW3vchiRu/view?usp=sharing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aframe.io/docs/1.7.0/primitives/a-text.html" TargetMode="External"/><Relationship Id="rId7" Type="http://schemas.openxmlformats.org/officeDocument/2006/relationships/hyperlink" Target="https://aframe.io/docs/1.7.0/primitives/a-sphere.html" TargetMode="External"/><Relationship Id="rId2" Type="http://schemas.openxmlformats.org/officeDocument/2006/relationships/hyperlink" Target="https://aframe.io/docs/1.7.0/core/scene.html" TargetMode="External"/><Relationship Id="rId1" Type="http://schemas.openxmlformats.org/officeDocument/2006/relationships/slideLayout" Target="../slideLayouts/slideLayout6.xml"/><Relationship Id="rId6" Type="http://schemas.openxmlformats.org/officeDocument/2006/relationships/hyperlink" Target="https://aframe.io/docs/1.7.0/primitives/a-plane.html" TargetMode="External"/><Relationship Id="rId5" Type="http://schemas.openxmlformats.org/officeDocument/2006/relationships/hyperlink" Target="https://aframe.io/docs/1.7.0/primitives/a-cylinder.html" TargetMode="External"/><Relationship Id="rId4" Type="http://schemas.openxmlformats.org/officeDocument/2006/relationships/hyperlink" Target="https://aframe.io/docs/1.7.0/primitives/a-box.html" TargetMode="Externa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aframevr/sample-assets/tree/master/assets/images" TargetMode="Externa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2" name="Rectangle 41">
            <a:extLst>
              <a:ext uri="{FF2B5EF4-FFF2-40B4-BE49-F238E27FC236}">
                <a16:creationId xmlns:a16="http://schemas.microsoft.com/office/drawing/2014/main" id="{F3E416D2-D994-4F7A-8F62-B28B11BEBA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pic>
        <p:nvPicPr>
          <p:cNvPr id="38" name="Picture 37" descr="A colorful squares and lines&#10;&#10;Description automatically generated">
            <a:extLst>
              <a:ext uri="{FF2B5EF4-FFF2-40B4-BE49-F238E27FC236}">
                <a16:creationId xmlns:a16="http://schemas.microsoft.com/office/drawing/2014/main" id="{F19E26CD-2E53-0914-FE6B-3EE538E80FA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20475" r="-1" b="-1"/>
          <a:stretch/>
        </p:blipFill>
        <p:spPr>
          <a:xfrm>
            <a:off x="3048" y="77283"/>
            <a:ext cx="12188952" cy="6857990"/>
          </a:xfrm>
          <a:prstGeom prst="rect">
            <a:avLst/>
          </a:prstGeom>
        </p:spPr>
      </p:pic>
      <p:sp>
        <p:nvSpPr>
          <p:cNvPr id="47" name="Freeform: Shape 46">
            <a:extLst>
              <a:ext uri="{FF2B5EF4-FFF2-40B4-BE49-F238E27FC236}">
                <a16:creationId xmlns:a16="http://schemas.microsoft.com/office/drawing/2014/main" id="{FB27C166-470E-467E-9E9E-E235EEF3C0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824691" y="0"/>
            <a:ext cx="7365784" cy="6858000"/>
          </a:xfrm>
          <a:custGeom>
            <a:avLst/>
            <a:gdLst>
              <a:gd name="connsiteX0" fmla="*/ 5742761 w 7365784"/>
              <a:gd name="connsiteY0" fmla="*/ 0 h 6858000"/>
              <a:gd name="connsiteX1" fmla="*/ 3076369 w 7365784"/>
              <a:gd name="connsiteY1" fmla="*/ 0 h 6858000"/>
              <a:gd name="connsiteX2" fmla="*/ 1949196 w 7365784"/>
              <a:gd name="connsiteY2" fmla="*/ 0 h 6858000"/>
              <a:gd name="connsiteX3" fmla="*/ 1583228 w 7365784"/>
              <a:gd name="connsiteY3" fmla="*/ 0 h 6858000"/>
              <a:gd name="connsiteX4" fmla="*/ 1457787 w 7365784"/>
              <a:gd name="connsiteY4" fmla="*/ 0 h 6858000"/>
              <a:gd name="connsiteX5" fmla="*/ 1445578 w 7365784"/>
              <a:gd name="connsiteY5" fmla="*/ 0 h 6858000"/>
              <a:gd name="connsiteX6" fmla="*/ 571708 w 7365784"/>
              <a:gd name="connsiteY6" fmla="*/ 0 h 6858000"/>
              <a:gd name="connsiteX7" fmla="*/ 237757 w 7365784"/>
              <a:gd name="connsiteY7" fmla="*/ 0 h 6858000"/>
              <a:gd name="connsiteX8" fmla="*/ 205161 w 7365784"/>
              <a:gd name="connsiteY8" fmla="*/ 0 h 6858000"/>
              <a:gd name="connsiteX9" fmla="*/ 0 w 7365784"/>
              <a:gd name="connsiteY9" fmla="*/ 0 h 6858000"/>
              <a:gd name="connsiteX10" fmla="*/ 0 w 7365784"/>
              <a:gd name="connsiteY10" fmla="*/ 6858000 h 6858000"/>
              <a:gd name="connsiteX11" fmla="*/ 205161 w 7365784"/>
              <a:gd name="connsiteY11" fmla="*/ 6858000 h 6858000"/>
              <a:gd name="connsiteX12" fmla="*/ 237757 w 7365784"/>
              <a:gd name="connsiteY12" fmla="*/ 6858000 h 6858000"/>
              <a:gd name="connsiteX13" fmla="*/ 571708 w 7365784"/>
              <a:gd name="connsiteY13" fmla="*/ 6858000 h 6858000"/>
              <a:gd name="connsiteX14" fmla="*/ 1274834 w 7365784"/>
              <a:gd name="connsiteY14" fmla="*/ 6858000 h 6858000"/>
              <a:gd name="connsiteX15" fmla="*/ 1445578 w 7365784"/>
              <a:gd name="connsiteY15" fmla="*/ 6858000 h 6858000"/>
              <a:gd name="connsiteX16" fmla="*/ 1457787 w 7365784"/>
              <a:gd name="connsiteY16" fmla="*/ 6858000 h 6858000"/>
              <a:gd name="connsiteX17" fmla="*/ 1949196 w 7365784"/>
              <a:gd name="connsiteY17" fmla="*/ 6858000 h 6858000"/>
              <a:gd name="connsiteX18" fmla="*/ 3076369 w 7365784"/>
              <a:gd name="connsiteY18" fmla="*/ 6858000 h 6858000"/>
              <a:gd name="connsiteX19" fmla="*/ 4863030 w 7365784"/>
              <a:gd name="connsiteY19" fmla="*/ 6858000 h 6858000"/>
              <a:gd name="connsiteX20" fmla="*/ 4974786 w 7365784"/>
              <a:gd name="connsiteY20" fmla="*/ 6780599 h 6858000"/>
              <a:gd name="connsiteX21" fmla="*/ 5491434 w 7365784"/>
              <a:gd name="connsiteY21" fmla="*/ 6374814 h 6858000"/>
              <a:gd name="connsiteX22" fmla="*/ 7365784 w 7365784"/>
              <a:gd name="connsiteY22" fmla="*/ 3621656 h 6858000"/>
              <a:gd name="connsiteX23" fmla="*/ 5764885 w 7365784"/>
              <a:gd name="connsiteY23" fmla="*/ 14997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</a:cxnLst>
            <a:rect l="l" t="t" r="r" b="b"/>
            <a:pathLst>
              <a:path w="7365784" h="6858000">
                <a:moveTo>
                  <a:pt x="5742761" y="0"/>
                </a:moveTo>
                <a:lnTo>
                  <a:pt x="3076369" y="0"/>
                </a:lnTo>
                <a:lnTo>
                  <a:pt x="1949196" y="0"/>
                </a:lnTo>
                <a:lnTo>
                  <a:pt x="1583228" y="0"/>
                </a:lnTo>
                <a:lnTo>
                  <a:pt x="1457787" y="0"/>
                </a:lnTo>
                <a:lnTo>
                  <a:pt x="1445578" y="0"/>
                </a:lnTo>
                <a:lnTo>
                  <a:pt x="571708" y="0"/>
                </a:lnTo>
                <a:lnTo>
                  <a:pt x="237757" y="0"/>
                </a:lnTo>
                <a:lnTo>
                  <a:pt x="205161" y="0"/>
                </a:lnTo>
                <a:lnTo>
                  <a:pt x="0" y="0"/>
                </a:lnTo>
                <a:lnTo>
                  <a:pt x="0" y="6858000"/>
                </a:lnTo>
                <a:lnTo>
                  <a:pt x="205161" y="6858000"/>
                </a:lnTo>
                <a:lnTo>
                  <a:pt x="237757" y="6858000"/>
                </a:lnTo>
                <a:lnTo>
                  <a:pt x="571708" y="6858000"/>
                </a:lnTo>
                <a:lnTo>
                  <a:pt x="1274834" y="6858000"/>
                </a:lnTo>
                <a:lnTo>
                  <a:pt x="1445578" y="6858000"/>
                </a:lnTo>
                <a:lnTo>
                  <a:pt x="1457787" y="6858000"/>
                </a:lnTo>
                <a:lnTo>
                  <a:pt x="1949196" y="6858000"/>
                </a:lnTo>
                <a:lnTo>
                  <a:pt x="3076369" y="6858000"/>
                </a:lnTo>
                <a:lnTo>
                  <a:pt x="4863030" y="6858000"/>
                </a:lnTo>
                <a:lnTo>
                  <a:pt x="4974786" y="6780599"/>
                </a:lnTo>
                <a:cubicBezTo>
                  <a:pt x="5148604" y="6653108"/>
                  <a:pt x="5319231" y="6515397"/>
                  <a:pt x="5491434" y="6374814"/>
                </a:cubicBezTo>
                <a:cubicBezTo>
                  <a:pt x="6437059" y="5602839"/>
                  <a:pt x="7365784" y="4969131"/>
                  <a:pt x="7365784" y="3621656"/>
                </a:cubicBezTo>
                <a:cubicBezTo>
                  <a:pt x="7365784" y="2093192"/>
                  <a:pt x="6792048" y="754641"/>
                  <a:pt x="5764885" y="14997"/>
                </a:cubicBezTo>
                <a:close/>
              </a:path>
            </a:pathLst>
          </a:custGeom>
          <a:solidFill>
            <a:srgbClr val="FFFFFF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673636C8-1392-483A-8A7A-CA259E806C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983671" y="0"/>
            <a:ext cx="7208329" cy="6858000"/>
          </a:xfrm>
          <a:custGeom>
            <a:avLst/>
            <a:gdLst>
              <a:gd name="connsiteX0" fmla="*/ 5585306 w 7208329"/>
              <a:gd name="connsiteY0" fmla="*/ 0 h 6858000"/>
              <a:gd name="connsiteX1" fmla="*/ 2918914 w 7208329"/>
              <a:gd name="connsiteY1" fmla="*/ 0 h 6858000"/>
              <a:gd name="connsiteX2" fmla="*/ 1592911 w 7208329"/>
              <a:gd name="connsiteY2" fmla="*/ 0 h 6858000"/>
              <a:gd name="connsiteX3" fmla="*/ 1425773 w 7208329"/>
              <a:gd name="connsiteY3" fmla="*/ 0 h 6858000"/>
              <a:gd name="connsiteX4" fmla="*/ 1300332 w 7208329"/>
              <a:gd name="connsiteY4" fmla="*/ 0 h 6858000"/>
              <a:gd name="connsiteX5" fmla="*/ 1288123 w 7208329"/>
              <a:gd name="connsiteY5" fmla="*/ 0 h 6858000"/>
              <a:gd name="connsiteX6" fmla="*/ 414253 w 7208329"/>
              <a:gd name="connsiteY6" fmla="*/ 0 h 6858000"/>
              <a:gd name="connsiteX7" fmla="*/ 80302 w 7208329"/>
              <a:gd name="connsiteY7" fmla="*/ 0 h 6858000"/>
              <a:gd name="connsiteX8" fmla="*/ 47706 w 7208329"/>
              <a:gd name="connsiteY8" fmla="*/ 0 h 6858000"/>
              <a:gd name="connsiteX9" fmla="*/ 0 w 7208329"/>
              <a:gd name="connsiteY9" fmla="*/ 0 h 6858000"/>
              <a:gd name="connsiteX10" fmla="*/ 0 w 7208329"/>
              <a:gd name="connsiteY10" fmla="*/ 6858000 h 6858000"/>
              <a:gd name="connsiteX11" fmla="*/ 47706 w 7208329"/>
              <a:gd name="connsiteY11" fmla="*/ 6858000 h 6858000"/>
              <a:gd name="connsiteX12" fmla="*/ 80302 w 7208329"/>
              <a:gd name="connsiteY12" fmla="*/ 6858000 h 6858000"/>
              <a:gd name="connsiteX13" fmla="*/ 414253 w 7208329"/>
              <a:gd name="connsiteY13" fmla="*/ 6858000 h 6858000"/>
              <a:gd name="connsiteX14" fmla="*/ 1117379 w 7208329"/>
              <a:gd name="connsiteY14" fmla="*/ 6858000 h 6858000"/>
              <a:gd name="connsiteX15" fmla="*/ 1288123 w 7208329"/>
              <a:gd name="connsiteY15" fmla="*/ 6858000 h 6858000"/>
              <a:gd name="connsiteX16" fmla="*/ 1300332 w 7208329"/>
              <a:gd name="connsiteY16" fmla="*/ 6858000 h 6858000"/>
              <a:gd name="connsiteX17" fmla="*/ 1592911 w 7208329"/>
              <a:gd name="connsiteY17" fmla="*/ 6858000 h 6858000"/>
              <a:gd name="connsiteX18" fmla="*/ 2918914 w 7208329"/>
              <a:gd name="connsiteY18" fmla="*/ 6858000 h 6858000"/>
              <a:gd name="connsiteX19" fmla="*/ 4705575 w 7208329"/>
              <a:gd name="connsiteY19" fmla="*/ 6858000 h 6858000"/>
              <a:gd name="connsiteX20" fmla="*/ 4817331 w 7208329"/>
              <a:gd name="connsiteY20" fmla="*/ 6780599 h 6858000"/>
              <a:gd name="connsiteX21" fmla="*/ 5333979 w 7208329"/>
              <a:gd name="connsiteY21" fmla="*/ 6374814 h 6858000"/>
              <a:gd name="connsiteX22" fmla="*/ 7208329 w 7208329"/>
              <a:gd name="connsiteY22" fmla="*/ 3621656 h 6858000"/>
              <a:gd name="connsiteX23" fmla="*/ 5607430 w 7208329"/>
              <a:gd name="connsiteY23" fmla="*/ 14997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</a:cxnLst>
            <a:rect l="l" t="t" r="r" b="b"/>
            <a:pathLst>
              <a:path w="7208329" h="6858000">
                <a:moveTo>
                  <a:pt x="5585306" y="0"/>
                </a:moveTo>
                <a:lnTo>
                  <a:pt x="2918914" y="0"/>
                </a:lnTo>
                <a:lnTo>
                  <a:pt x="1592911" y="0"/>
                </a:lnTo>
                <a:lnTo>
                  <a:pt x="1425773" y="0"/>
                </a:lnTo>
                <a:lnTo>
                  <a:pt x="1300332" y="0"/>
                </a:lnTo>
                <a:lnTo>
                  <a:pt x="1288123" y="0"/>
                </a:lnTo>
                <a:lnTo>
                  <a:pt x="414253" y="0"/>
                </a:lnTo>
                <a:lnTo>
                  <a:pt x="80302" y="0"/>
                </a:lnTo>
                <a:lnTo>
                  <a:pt x="47706" y="0"/>
                </a:lnTo>
                <a:lnTo>
                  <a:pt x="0" y="0"/>
                </a:lnTo>
                <a:lnTo>
                  <a:pt x="0" y="6858000"/>
                </a:lnTo>
                <a:lnTo>
                  <a:pt x="47706" y="6858000"/>
                </a:lnTo>
                <a:lnTo>
                  <a:pt x="80302" y="6858000"/>
                </a:lnTo>
                <a:lnTo>
                  <a:pt x="414253" y="6858000"/>
                </a:lnTo>
                <a:lnTo>
                  <a:pt x="1117379" y="6858000"/>
                </a:lnTo>
                <a:lnTo>
                  <a:pt x="1288123" y="6858000"/>
                </a:lnTo>
                <a:lnTo>
                  <a:pt x="1300332" y="6858000"/>
                </a:lnTo>
                <a:lnTo>
                  <a:pt x="1592911" y="6858000"/>
                </a:lnTo>
                <a:lnTo>
                  <a:pt x="2918914" y="6858000"/>
                </a:lnTo>
                <a:lnTo>
                  <a:pt x="4705575" y="6858000"/>
                </a:lnTo>
                <a:lnTo>
                  <a:pt x="4817331" y="6780599"/>
                </a:lnTo>
                <a:cubicBezTo>
                  <a:pt x="4991149" y="6653108"/>
                  <a:pt x="5161776" y="6515397"/>
                  <a:pt x="5333979" y="6374814"/>
                </a:cubicBezTo>
                <a:cubicBezTo>
                  <a:pt x="6279604" y="5602839"/>
                  <a:pt x="7208329" y="4969131"/>
                  <a:pt x="7208329" y="3621656"/>
                </a:cubicBezTo>
                <a:cubicBezTo>
                  <a:pt x="7208329" y="2093192"/>
                  <a:pt x="6634593" y="754641"/>
                  <a:pt x="5607430" y="14997"/>
                </a:cubicBezTo>
                <a:close/>
              </a:path>
            </a:pathLst>
          </a:custGeom>
          <a:solidFill>
            <a:schemeClr val="bg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7539A79B-DFBA-4781-B0DE-4044B07226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611396" y="0"/>
            <a:ext cx="2529723" cy="6858000"/>
          </a:xfrm>
          <a:custGeom>
            <a:avLst/>
            <a:gdLst>
              <a:gd name="connsiteX0" fmla="*/ 1258269 w 2529723"/>
              <a:gd name="connsiteY0" fmla="*/ 0 h 6858000"/>
              <a:gd name="connsiteX1" fmla="*/ 1275627 w 2529723"/>
              <a:gd name="connsiteY1" fmla="*/ 0 h 6858000"/>
              <a:gd name="connsiteX2" fmla="*/ 1302560 w 2529723"/>
              <a:gd name="connsiteY2" fmla="*/ 24338 h 6858000"/>
              <a:gd name="connsiteX3" fmla="*/ 2522825 w 2529723"/>
              <a:gd name="connsiteY3" fmla="*/ 3678515 h 6858000"/>
              <a:gd name="connsiteX4" fmla="*/ 557500 w 2529723"/>
              <a:gd name="connsiteY4" fmla="*/ 6451411 h 6858000"/>
              <a:gd name="connsiteX5" fmla="*/ 32482 w 2529723"/>
              <a:gd name="connsiteY5" fmla="*/ 6849373 h 6858000"/>
              <a:gd name="connsiteX6" fmla="*/ 19531 w 2529723"/>
              <a:gd name="connsiteY6" fmla="*/ 6858000 h 6858000"/>
              <a:gd name="connsiteX7" fmla="*/ 0 w 2529723"/>
              <a:gd name="connsiteY7" fmla="*/ 6858000 h 6858000"/>
              <a:gd name="connsiteX8" fmla="*/ 14202 w 2529723"/>
              <a:gd name="connsiteY8" fmla="*/ 6848540 h 6858000"/>
              <a:gd name="connsiteX9" fmla="*/ 539221 w 2529723"/>
              <a:gd name="connsiteY9" fmla="*/ 6450578 h 6858000"/>
              <a:gd name="connsiteX10" fmla="*/ 2504546 w 2529723"/>
              <a:gd name="connsiteY10" fmla="*/ 3677682 h 6858000"/>
              <a:gd name="connsiteX11" fmla="*/ 1284280 w 2529723"/>
              <a:gd name="connsiteY11" fmla="*/ 23504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529723" h="6858000">
                <a:moveTo>
                  <a:pt x="1258269" y="0"/>
                </a:moveTo>
                <a:lnTo>
                  <a:pt x="1275627" y="0"/>
                </a:lnTo>
                <a:lnTo>
                  <a:pt x="1302560" y="24338"/>
                </a:lnTo>
                <a:cubicBezTo>
                  <a:pt x="2156831" y="855667"/>
                  <a:pt x="2590622" y="2191755"/>
                  <a:pt x="2522825" y="3678515"/>
                </a:cubicBezTo>
                <a:cubicBezTo>
                  <a:pt x="2459072" y="5076606"/>
                  <a:pt x="1519830" y="5692656"/>
                  <a:pt x="557500" y="6451411"/>
                </a:cubicBezTo>
                <a:cubicBezTo>
                  <a:pt x="382255" y="6589587"/>
                  <a:pt x="208689" y="6724853"/>
                  <a:pt x="32482" y="6849373"/>
                </a:cubicBezTo>
                <a:lnTo>
                  <a:pt x="19531" y="6858000"/>
                </a:lnTo>
                <a:lnTo>
                  <a:pt x="0" y="6858000"/>
                </a:lnTo>
                <a:lnTo>
                  <a:pt x="14202" y="6848540"/>
                </a:lnTo>
                <a:cubicBezTo>
                  <a:pt x="190409" y="6724020"/>
                  <a:pt x="363976" y="6588754"/>
                  <a:pt x="539221" y="6450578"/>
                </a:cubicBezTo>
                <a:cubicBezTo>
                  <a:pt x="1501550" y="5691822"/>
                  <a:pt x="2440792" y="5075773"/>
                  <a:pt x="2504546" y="3677682"/>
                </a:cubicBezTo>
                <a:cubicBezTo>
                  <a:pt x="2572343" y="2190921"/>
                  <a:pt x="2138551" y="854834"/>
                  <a:pt x="1284280" y="23504"/>
                </a:cubicBezTo>
                <a:close/>
              </a:path>
            </a:pathLst>
          </a:custGeom>
          <a:solidFill>
            <a:srgbClr val="FFFFFF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970897" y="1346268"/>
            <a:ext cx="5568285" cy="2809475"/>
          </a:xfrm>
        </p:spPr>
        <p:txBody>
          <a:bodyPr>
            <a:normAutofit/>
          </a:bodyPr>
          <a:lstStyle/>
          <a:p>
            <a:pPr algn="l"/>
            <a:r>
              <a:rPr lang="en-US" dirty="0">
                <a:ea typeface="Calibri Light"/>
                <a:cs typeface="Calibri Light"/>
              </a:rPr>
              <a:t>AR/VR Workshop</a:t>
            </a:r>
            <a:br>
              <a:rPr lang="en-US" b="1" dirty="0">
                <a:latin typeface="Calibri"/>
                <a:ea typeface="Calibri"/>
                <a:cs typeface="Calibri"/>
              </a:rPr>
            </a:br>
            <a:r>
              <a:rPr lang="en-US" b="1" dirty="0">
                <a:latin typeface="Calibri"/>
                <a:ea typeface="Calibri"/>
                <a:cs typeface="Calibri"/>
              </a:rPr>
              <a:t>Basic geometric objects</a:t>
            </a:r>
            <a:endParaRPr lang="en-US" dirty="0">
              <a:ea typeface="Calibri Light"/>
              <a:cs typeface="Calibri Light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969341" y="4251279"/>
            <a:ext cx="5569714" cy="1037228"/>
          </a:xfrm>
        </p:spPr>
        <p:txBody>
          <a:bodyPr vert="horz" lIns="91440" tIns="45720" rIns="91440" bIns="45720" rtlCol="0">
            <a:normAutofit/>
          </a:bodyPr>
          <a:lstStyle/>
          <a:p>
            <a:pPr algn="l"/>
            <a:r>
              <a:rPr lang="en-US" b="1" dirty="0">
                <a:solidFill>
                  <a:srgbClr val="0070C0"/>
                </a:solidFill>
                <a:ea typeface="Calibri"/>
                <a:cs typeface="Calibri"/>
              </a:rPr>
              <a:t>Phillip G. Bradford</a:t>
            </a:r>
          </a:p>
          <a:p>
            <a:pPr algn="l"/>
            <a:r>
              <a:rPr lang="en-US" b="1" dirty="0">
                <a:solidFill>
                  <a:srgbClr val="0070C0"/>
                </a:solidFill>
                <a:ea typeface="Calibri"/>
                <a:cs typeface="Calibri"/>
              </a:rPr>
              <a:t>University of Connecticut</a:t>
            </a:r>
            <a:endParaRPr lang="en-US" b="1" dirty="0">
              <a:solidFill>
                <a:srgbClr val="0070C0"/>
              </a:solidFill>
            </a:endParaRPr>
          </a:p>
          <a:p>
            <a:pPr algn="l"/>
            <a:endParaRPr lang="en-US" dirty="0"/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27A72887-186A-8CCC-90D3-CBCF5C6A2FEF}"/>
              </a:ext>
            </a:extLst>
          </p:cNvPr>
          <p:cNvSpPr txBox="1">
            <a:spLocks/>
          </p:cNvSpPr>
          <p:nvPr/>
        </p:nvSpPr>
        <p:spPr>
          <a:xfrm>
            <a:off x="2099256" y="4318962"/>
            <a:ext cx="9144000" cy="165576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b="1" dirty="0">
              <a:solidFill>
                <a:srgbClr val="0070C0"/>
              </a:solidFill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0000384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7B586-F32E-B371-228B-B293195BC8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demo highlights: 3D geometric shapes </a:t>
            </a:r>
          </a:p>
        </p:txBody>
      </p:sp>
      <p:pic>
        <p:nvPicPr>
          <p:cNvPr id="5" name="Picture 4">
            <a:hlinkClick r:id="rId2"/>
            <a:extLst>
              <a:ext uri="{FF2B5EF4-FFF2-40B4-BE49-F238E27FC236}">
                <a16:creationId xmlns:a16="http://schemas.microsoft.com/office/drawing/2014/main" id="{25731D18-368D-9CE8-9C6A-80CB9B3E71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252" y="1542290"/>
            <a:ext cx="4255138" cy="45225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04144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A32E1B-304C-70CA-4FE2-121036B45B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0070C0"/>
                </a:solidFill>
                <a:ea typeface="Calibri Light"/>
                <a:cs typeface="Calibri Light"/>
              </a:rPr>
              <a:t>Outline</a:t>
            </a:r>
            <a:endParaRPr lang="en-US">
              <a:solidFill>
                <a:srgbClr val="0070C0"/>
              </a:solidFill>
              <a:ea typeface="Calibri Light"/>
              <a:cs typeface="Calibri Light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80D594-86CE-1ED4-994C-042A2971ED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en-US" dirty="0">
              <a:ea typeface="Calibri" panose="020F0502020204030204"/>
              <a:cs typeface="Calibri" panose="020F0502020204030204"/>
            </a:endParaRPr>
          </a:p>
          <a:p>
            <a:pPr marL="0" indent="0">
              <a:buNone/>
            </a:pPr>
            <a:r>
              <a:rPr lang="en-US" dirty="0">
                <a:ea typeface="Calibri" panose="020F0502020204030204"/>
                <a:cs typeface="Calibri" panose="020F0502020204030204"/>
              </a:rPr>
              <a:t>A-frame scenes</a:t>
            </a:r>
          </a:p>
          <a:p>
            <a:pPr marL="0" indent="0">
              <a:buNone/>
            </a:pPr>
            <a:endParaRPr lang="en-US" dirty="0">
              <a:ea typeface="Calibri" panose="020F0502020204030204"/>
              <a:cs typeface="Calibri" panose="020F0502020204030204"/>
            </a:endParaRPr>
          </a:p>
          <a:p>
            <a:pPr marL="0" indent="0">
              <a:buNone/>
            </a:pPr>
            <a:r>
              <a:rPr lang="en-US" dirty="0">
                <a:ea typeface="Calibri" panose="020F0502020204030204"/>
                <a:cs typeface="Calibri" panose="020F0502020204030204"/>
              </a:rPr>
              <a:t>Basic A-frame geometric objects</a:t>
            </a:r>
          </a:p>
          <a:p>
            <a:pPr marL="0" indent="0">
              <a:buNone/>
            </a:pPr>
            <a:endParaRPr lang="en-US" dirty="0">
              <a:ea typeface="Calibri" panose="020F0502020204030204"/>
              <a:cs typeface="Calibri" panose="020F0502020204030204"/>
            </a:endParaRPr>
          </a:p>
          <a:p>
            <a:pPr marL="0" indent="0">
              <a:buNone/>
            </a:pPr>
            <a:r>
              <a:rPr lang="en-US" b="1" dirty="0">
                <a:ea typeface="Calibri" panose="020F0502020204030204"/>
                <a:cs typeface="Calibri" panose="020F0502020204030204"/>
              </a:rPr>
              <a:t>New web tab</a:t>
            </a:r>
            <a:r>
              <a:rPr lang="en-US" dirty="0">
                <a:ea typeface="Calibri" panose="020F0502020204030204"/>
                <a:cs typeface="Calibri" panose="020F0502020204030204"/>
              </a:rPr>
              <a:t>:</a:t>
            </a:r>
          </a:p>
          <a:p>
            <a:pPr marL="0" indent="0">
              <a:buNone/>
            </a:pPr>
            <a:r>
              <a:rPr lang="en-US" dirty="0">
                <a:ea typeface="Calibri" panose="020F0502020204030204"/>
                <a:cs typeface="Calibri" panose="020F0502020204030204"/>
              </a:rPr>
              <a:t>https://www.w3schools.com/colors/colors_picker.asp</a:t>
            </a:r>
          </a:p>
        </p:txBody>
      </p:sp>
    </p:spTree>
    <p:extLst>
      <p:ext uri="{BB962C8B-B14F-4D97-AF65-F5344CB8AC3E}">
        <p14:creationId xmlns:p14="http://schemas.microsoft.com/office/powerpoint/2010/main" val="11697122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A0CACB-31AD-38B8-D51C-B346653D65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3D images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C1C0D6-8B17-C175-C78B-DAA3DB295D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2D images most common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https://en.wikipedia.org/wiki/VR_photography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653434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A6EE94-498E-8079-366A-C6321F49CA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0070C0"/>
                </a:solidFill>
              </a:rPr>
              <a:t>VR Images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6284B10-7BA7-B1B6-0679-5BE1F81814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0855" y="2461739"/>
            <a:ext cx="7367579" cy="35920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66410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A6EE94-498E-8079-366A-C6321F49CA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0070C0"/>
                </a:solidFill>
              </a:rPr>
              <a:t>Viewing VR Images</a:t>
            </a:r>
          </a:p>
        </p:txBody>
      </p:sp>
      <p:pic>
        <p:nvPicPr>
          <p:cNvPr id="3" name="Graphic 2" descr="3d Glasses outline">
            <a:extLst>
              <a:ext uri="{FF2B5EF4-FFF2-40B4-BE49-F238E27FC236}">
                <a16:creationId xmlns:a16="http://schemas.microsoft.com/office/drawing/2014/main" id="{2992276D-8FBE-B2C3-6595-CEBF58E9D4B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010400" y="553304"/>
            <a:ext cx="2927211" cy="2927211"/>
          </a:xfrm>
          <a:prstGeom prst="rect">
            <a:avLst/>
          </a:prstGeom>
        </p:spPr>
      </p:pic>
      <p:sp>
        <p:nvSpPr>
          <p:cNvPr id="4" name="Flowchart: Extract 3">
            <a:extLst>
              <a:ext uri="{FF2B5EF4-FFF2-40B4-BE49-F238E27FC236}">
                <a16:creationId xmlns:a16="http://schemas.microsoft.com/office/drawing/2014/main" id="{731E0BA1-9A45-579E-E6C3-DE44B1333C52}"/>
              </a:ext>
            </a:extLst>
          </p:cNvPr>
          <p:cNvSpPr/>
          <p:nvPr/>
        </p:nvSpPr>
        <p:spPr>
          <a:xfrm rot="2295461">
            <a:off x="6256745" y="1887378"/>
            <a:ext cx="1506828" cy="1741034"/>
          </a:xfrm>
          <a:prstGeom prst="flowChartExtra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lowchart: Extract 5">
            <a:extLst>
              <a:ext uri="{FF2B5EF4-FFF2-40B4-BE49-F238E27FC236}">
                <a16:creationId xmlns:a16="http://schemas.microsoft.com/office/drawing/2014/main" id="{D4D614F6-46CB-46B0-519F-A0FA6EDA5810}"/>
              </a:ext>
            </a:extLst>
          </p:cNvPr>
          <p:cNvSpPr/>
          <p:nvPr/>
        </p:nvSpPr>
        <p:spPr>
          <a:xfrm rot="2295461">
            <a:off x="6929869" y="2245700"/>
            <a:ext cx="1506828" cy="1853988"/>
          </a:xfrm>
          <a:prstGeom prst="flowChartExtra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lowchart: Extract 6">
            <a:extLst>
              <a:ext uri="{FF2B5EF4-FFF2-40B4-BE49-F238E27FC236}">
                <a16:creationId xmlns:a16="http://schemas.microsoft.com/office/drawing/2014/main" id="{AAE8A58E-92BC-307C-9B53-8B2F40797660}"/>
              </a:ext>
            </a:extLst>
          </p:cNvPr>
          <p:cNvSpPr/>
          <p:nvPr/>
        </p:nvSpPr>
        <p:spPr>
          <a:xfrm rot="2295461">
            <a:off x="6676171" y="2888528"/>
            <a:ext cx="775781" cy="901998"/>
          </a:xfrm>
          <a:prstGeom prst="flowChartExtra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D3EF467-9105-1D36-FAC8-2353B6FDBF79}"/>
              </a:ext>
            </a:extLst>
          </p:cNvPr>
          <p:cNvSpPr txBox="1"/>
          <p:nvPr/>
        </p:nvSpPr>
        <p:spPr>
          <a:xfrm>
            <a:off x="858539" y="4781333"/>
            <a:ext cx="8268033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Field-of-vision intersection 60</a:t>
            </a:r>
            <a:r>
              <a:rPr lang="en-US" sz="2800" baseline="30000" dirty="0"/>
              <a:t>o</a:t>
            </a:r>
            <a:r>
              <a:rPr lang="en-US" sz="2800" dirty="0"/>
              <a:t> </a:t>
            </a:r>
          </a:p>
          <a:p>
            <a:r>
              <a:rPr lang="en-US" sz="2800" dirty="0"/>
              <a:t>Field-of-vision = 110</a:t>
            </a:r>
            <a:r>
              <a:rPr lang="en-US" sz="2800" baseline="30000" dirty="0"/>
              <a:t>o</a:t>
            </a:r>
            <a:r>
              <a:rPr lang="en-US" sz="2800" dirty="0"/>
              <a:t> left  110</a:t>
            </a:r>
            <a:r>
              <a:rPr lang="en-US" sz="2800" baseline="30000" dirty="0"/>
              <a:t>o</a:t>
            </a:r>
            <a:r>
              <a:rPr lang="en-US" sz="2800" dirty="0"/>
              <a:t> right – 60</a:t>
            </a:r>
            <a:r>
              <a:rPr lang="en-US" sz="2800" baseline="30000" dirty="0"/>
              <a:t>o</a:t>
            </a:r>
            <a:r>
              <a:rPr lang="en-US" sz="2800" dirty="0"/>
              <a:t> intersection</a:t>
            </a:r>
          </a:p>
        </p:txBody>
      </p:sp>
    </p:spTree>
    <p:extLst>
      <p:ext uri="{BB962C8B-B14F-4D97-AF65-F5344CB8AC3E}">
        <p14:creationId xmlns:p14="http://schemas.microsoft.com/office/powerpoint/2010/main" val="26356930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E42908-EAB8-F93F-3DF5-E3FEC9B1C0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0070C0"/>
                </a:solidFill>
              </a:rPr>
              <a:t>Scenes and geometric objects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ABF39CF6-740C-F2D1-8FCE-DCD896246D3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24849528"/>
              </p:ext>
            </p:extLst>
          </p:nvPr>
        </p:nvGraphicFramePr>
        <p:xfrm>
          <a:off x="446391" y="2174164"/>
          <a:ext cx="11299218" cy="3845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4313">
                  <a:extLst>
                    <a:ext uri="{9D8B030D-6E8A-4147-A177-3AD203B41FA5}">
                      <a16:colId xmlns:a16="http://schemas.microsoft.com/office/drawing/2014/main" val="3046300315"/>
                    </a:ext>
                  </a:extLst>
                </a:gridCol>
                <a:gridCol w="2549986">
                  <a:extLst>
                    <a:ext uri="{9D8B030D-6E8A-4147-A177-3AD203B41FA5}">
                      <a16:colId xmlns:a16="http://schemas.microsoft.com/office/drawing/2014/main" val="3310798745"/>
                    </a:ext>
                  </a:extLst>
                </a:gridCol>
                <a:gridCol w="7184919">
                  <a:extLst>
                    <a:ext uri="{9D8B030D-6E8A-4147-A177-3AD203B41FA5}">
                      <a16:colId xmlns:a16="http://schemas.microsoft.com/office/drawing/2014/main" val="390814087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Primitive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What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Link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87209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/>
                        <a:t>a-scene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Global root object contains all entities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>
                          <a:hlinkClick r:id="rId2"/>
                        </a:rPr>
                        <a:t>https://aframe.io/docs/1.7.0/core/scene.html</a:t>
                      </a:r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47767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/>
                        <a:t>a-text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hlinkClick r:id="rId3"/>
                        </a:rPr>
                        <a:t>https://aframe.io/docs/1.7.0/primitives/a-text.html</a:t>
                      </a:r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644642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/>
                        <a:t>a-box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3D Box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hlinkClick r:id="rId4"/>
                        </a:rPr>
                        <a:t>https://aframe.io/docs/1.7.0/primitives/a-box.html</a:t>
                      </a:r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84836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/>
                        <a:t>a-cylinder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3D cylinder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hlinkClick r:id="rId5"/>
                        </a:rPr>
                        <a:t>https://aframe.io/docs/1.7.0/primitives/a-cylinder.html</a:t>
                      </a:r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618583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/>
                        <a:t>a-plane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2D plane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hlinkClick r:id="rId6"/>
                        </a:rPr>
                        <a:t>https://aframe.io/docs/1.7.0/primitives/a-plane.html</a:t>
                      </a:r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147412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/>
                        <a:t>a-sphere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3D Sphere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hlinkClick r:id="rId7"/>
                        </a:rPr>
                        <a:t>https://aframe.io/docs/1.7.0/primitives/a-sphere.html</a:t>
                      </a:r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581057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749040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4B9155-D35B-C848-17BB-F51527874F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0070C0"/>
                </a:solidFill>
              </a:rPr>
              <a:t>Geometric terms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EC752A-9015-7C62-6AE4-AEB20169DA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Mesh or geometry</a:t>
            </a:r>
          </a:p>
          <a:p>
            <a:pPr marL="0" indent="0">
              <a:buNone/>
            </a:pPr>
            <a:r>
              <a:rPr lang="en-US" dirty="0"/>
              <a:t>         Vertices, edges and faces defining a 3D object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Texture</a:t>
            </a:r>
          </a:p>
          <a:p>
            <a:pPr marL="0" indent="0">
              <a:buNone/>
            </a:pPr>
            <a:r>
              <a:rPr lang="en-US" dirty="0"/>
              <a:t>         Color and appearance of a surface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Full representation: mesh and texture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16946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A57BC5-3FDD-1DAF-88C5-EAEC45FEF5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Pre-defined A-Frame geometries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698390-75C6-9012-6E4C-1D6177CC45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0ABA5CA-1762-AD6A-A287-464540917C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027" y="2270341"/>
            <a:ext cx="10447594" cy="4431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528129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45A866-15E2-DE3C-5CE2-86809B8938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0070C0"/>
                </a:solidFill>
              </a:rPr>
              <a:t>Textures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43848A-4F1B-16BA-1750-A6ACDC7FE7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Another tab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>
                <a:hlinkClick r:id="rId2"/>
              </a:rPr>
              <a:t>https://github.com/aframevr/sample-assets/tree/master/assets/images</a:t>
            </a: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Make our own </a:t>
            </a:r>
            <a:r>
              <a:rPr lang="en-US" sz="2400" dirty="0" err="1"/>
              <a:t>src</a:t>
            </a:r>
            <a:r>
              <a:rPr lang="en-US" sz="2400" dirty="0"/>
              <a:t>=“…”  by uploading</a:t>
            </a:r>
          </a:p>
        </p:txBody>
      </p:sp>
    </p:spTree>
    <p:extLst>
      <p:ext uri="{BB962C8B-B14F-4D97-AF65-F5344CB8AC3E}">
        <p14:creationId xmlns:p14="http://schemas.microsoft.com/office/powerpoint/2010/main" val="350805623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394708-FCCD-7726-0310-163DFE5793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0070C0"/>
                </a:solidFill>
              </a:rPr>
              <a:t>A-box – in a scene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2A5ECE-DF1D-DA6D-6E77-4E3FF6F428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&lt;a-box position="</a:t>
            </a:r>
            <a:r>
              <a:rPr lang="en-US" dirty="0">
                <a:solidFill>
                  <a:srgbClr val="FF0000"/>
                </a:solidFill>
              </a:rPr>
              <a:t>1.5   </a:t>
            </a:r>
            <a:r>
              <a:rPr lang="en-US" dirty="0">
                <a:solidFill>
                  <a:srgbClr val="7030A0"/>
                </a:solidFill>
              </a:rPr>
              <a:t>1</a:t>
            </a:r>
            <a:r>
              <a:rPr lang="en-US" dirty="0"/>
              <a:t>   </a:t>
            </a:r>
            <a:r>
              <a:rPr lang="en-US" dirty="0">
                <a:solidFill>
                  <a:schemeClr val="accent1"/>
                </a:solidFill>
              </a:rPr>
              <a:t>-2.0</a:t>
            </a:r>
            <a:r>
              <a:rPr lang="en-US" dirty="0"/>
              <a:t>"&gt;</a:t>
            </a:r>
          </a:p>
          <a:p>
            <a:pPr marL="0" indent="0">
              <a:buNone/>
            </a:pPr>
            <a:r>
              <a:rPr lang="en-US" dirty="0"/>
              <a:t>&lt;/a-box&gt;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>
                <a:solidFill>
                  <a:srgbClr val="FF0000"/>
                </a:solidFill>
              </a:rPr>
              <a:t>x   </a:t>
            </a:r>
            <a:r>
              <a:rPr lang="en-US" b="1" dirty="0"/>
              <a:t> pitch</a:t>
            </a:r>
          </a:p>
          <a:p>
            <a:pPr marL="0" indent="0">
              <a:buNone/>
            </a:pPr>
            <a:r>
              <a:rPr lang="en-US" b="1" dirty="0">
                <a:solidFill>
                  <a:srgbClr val="7030A0"/>
                </a:solidFill>
              </a:rPr>
              <a:t>y</a:t>
            </a:r>
            <a:r>
              <a:rPr lang="en-US" b="1" dirty="0">
                <a:solidFill>
                  <a:srgbClr val="0070C0"/>
                </a:solidFill>
              </a:rPr>
              <a:t>    </a:t>
            </a:r>
            <a:r>
              <a:rPr lang="en-US" b="1" dirty="0"/>
              <a:t>yaw</a:t>
            </a:r>
          </a:p>
          <a:p>
            <a:pPr marL="0" indent="0">
              <a:buNone/>
            </a:pPr>
            <a:r>
              <a:rPr lang="en-US" b="1" dirty="0">
                <a:solidFill>
                  <a:srgbClr val="0070C0"/>
                </a:solidFill>
              </a:rPr>
              <a:t>z    </a:t>
            </a:r>
            <a:r>
              <a:rPr lang="en-US" b="1" dirty="0"/>
              <a:t>roll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79B3FF1-C31B-40E6-D4A3-E2E5B992C49E}"/>
              </a:ext>
            </a:extLst>
          </p:cNvPr>
          <p:cNvCxnSpPr/>
          <p:nvPr/>
        </p:nvCxnSpPr>
        <p:spPr>
          <a:xfrm>
            <a:off x="5737123" y="4173794"/>
            <a:ext cx="5235677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53383A52-5A08-CCD0-07CB-0B54375DDCF2}"/>
              </a:ext>
            </a:extLst>
          </p:cNvPr>
          <p:cNvCxnSpPr>
            <a:cxnSpLocks/>
          </p:cNvCxnSpPr>
          <p:nvPr/>
        </p:nvCxnSpPr>
        <p:spPr>
          <a:xfrm flipV="1">
            <a:off x="8072284" y="1386348"/>
            <a:ext cx="0" cy="4645742"/>
          </a:xfrm>
          <a:prstGeom prst="line">
            <a:avLst/>
          </a:prstGeom>
          <a:ln w="28575">
            <a:solidFill>
              <a:srgbClr val="7030A0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229FBFB-D69A-9818-26F8-34A6DA38789E}"/>
                  </a:ext>
                </a:extLst>
              </p:cNvPr>
              <p:cNvSpPr txBox="1"/>
              <p:nvPr/>
            </p:nvSpPr>
            <p:spPr>
              <a:xfrm>
                <a:off x="5737123" y="4173794"/>
                <a:ext cx="363433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229FBFB-D69A-9818-26F8-34A6DA3878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37123" y="4173794"/>
                <a:ext cx="363433" cy="55399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91ADA6B-D81C-BDEB-0938-AC8D42022DFC}"/>
                  </a:ext>
                </a:extLst>
              </p:cNvPr>
              <p:cNvSpPr txBox="1"/>
              <p:nvPr/>
            </p:nvSpPr>
            <p:spPr>
              <a:xfrm>
                <a:off x="8173244" y="1204159"/>
                <a:ext cx="370166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91ADA6B-D81C-BDEB-0938-AC8D42022D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73244" y="1204159"/>
                <a:ext cx="370166" cy="55399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5ED3C18-1B13-66A5-70AE-E31DADA6FEBD}"/>
              </a:ext>
            </a:extLst>
          </p:cNvPr>
          <p:cNvCxnSpPr>
            <a:cxnSpLocks/>
          </p:cNvCxnSpPr>
          <p:nvPr/>
        </p:nvCxnSpPr>
        <p:spPr>
          <a:xfrm flipV="1">
            <a:off x="6533535" y="4173794"/>
            <a:ext cx="1538749" cy="92605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9A91AA4A-0DF5-554B-D731-CC71649823CA}"/>
              </a:ext>
            </a:extLst>
          </p:cNvPr>
          <p:cNvCxnSpPr>
            <a:cxnSpLocks/>
          </p:cNvCxnSpPr>
          <p:nvPr/>
        </p:nvCxnSpPr>
        <p:spPr>
          <a:xfrm flipV="1">
            <a:off x="8072284" y="2779380"/>
            <a:ext cx="2335162" cy="1382150"/>
          </a:xfrm>
          <a:prstGeom prst="line">
            <a:avLst/>
          </a:prstGeom>
          <a:ln w="28575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795477F-76DA-F555-BB1C-A7B72C19EDFB}"/>
                  </a:ext>
                </a:extLst>
              </p:cNvPr>
              <p:cNvSpPr txBox="1"/>
              <p:nvPr/>
            </p:nvSpPr>
            <p:spPr>
              <a:xfrm>
                <a:off x="10510457" y="2415273"/>
                <a:ext cx="334899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en-US" sz="3600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795477F-76DA-F555-BB1C-A7B72C19ED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10457" y="2415273"/>
                <a:ext cx="334899" cy="55399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2B3AFC68-4BA8-6C3F-06F6-9900706C5F7F}"/>
              </a:ext>
            </a:extLst>
          </p:cNvPr>
          <p:cNvSpPr txBox="1"/>
          <p:nvPr/>
        </p:nvSpPr>
        <p:spPr>
          <a:xfrm>
            <a:off x="6236843" y="2525879"/>
            <a:ext cx="12230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a-box.html</a:t>
            </a:r>
          </a:p>
        </p:txBody>
      </p:sp>
    </p:spTree>
    <p:extLst>
      <p:ext uri="{BB962C8B-B14F-4D97-AF65-F5344CB8AC3E}">
        <p14:creationId xmlns:p14="http://schemas.microsoft.com/office/powerpoint/2010/main" val="16078855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3AF7C0-61C7-630C-2CFE-867FCA1965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0070C0"/>
                </a:solidFill>
              </a:rPr>
              <a:t>A-box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AC67BA-BB43-8852-DE38-9E906D9918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&lt;html&gt;</a:t>
            </a:r>
          </a:p>
          <a:p>
            <a:pPr marL="0" indent="0">
              <a:buNone/>
            </a:pPr>
            <a:r>
              <a:rPr lang="en-US" dirty="0"/>
              <a:t>  &lt;head&gt;</a:t>
            </a:r>
          </a:p>
          <a:p>
            <a:pPr marL="0" indent="0">
              <a:buNone/>
            </a:pPr>
            <a:r>
              <a:rPr lang="en-US" dirty="0"/>
              <a:t>    &lt;script </a:t>
            </a:r>
            <a:r>
              <a:rPr lang="en-US" dirty="0" err="1"/>
              <a:t>src</a:t>
            </a:r>
            <a:r>
              <a:rPr lang="en-US" dirty="0"/>
              <a:t>="https://aframe.io/releases/1.7.1/aframe.min.js"&gt;&lt;/script&gt;</a:t>
            </a:r>
          </a:p>
          <a:p>
            <a:pPr marL="0" indent="0">
              <a:buNone/>
            </a:pPr>
            <a:r>
              <a:rPr lang="en-US" dirty="0"/>
              <a:t>  &lt;/head&gt;</a:t>
            </a:r>
          </a:p>
          <a:p>
            <a:pPr marL="0" indent="0">
              <a:buNone/>
            </a:pPr>
            <a:r>
              <a:rPr lang="en-US" dirty="0"/>
              <a:t>  &lt;body&gt;</a:t>
            </a:r>
          </a:p>
          <a:p>
            <a:pPr marL="0" indent="0">
              <a:buNone/>
            </a:pPr>
            <a:r>
              <a:rPr lang="en-US" dirty="0"/>
              <a:t>    &lt;a-scene&gt;</a:t>
            </a:r>
          </a:p>
          <a:p>
            <a:pPr marL="0" indent="0">
              <a:buNone/>
            </a:pPr>
            <a:r>
              <a:rPr lang="en-US" dirty="0"/>
              <a:t>      </a:t>
            </a:r>
            <a:r>
              <a:rPr lang="en-US" b="1" dirty="0">
                <a:solidFill>
                  <a:srgbClr val="0070C0"/>
                </a:solidFill>
              </a:rPr>
              <a:t>&lt;a-box position="</a:t>
            </a:r>
            <a:r>
              <a:rPr lang="en-US" dirty="0">
                <a:solidFill>
                  <a:srgbClr val="FF0000"/>
                </a:solidFill>
              </a:rPr>
              <a:t>1.5   </a:t>
            </a:r>
            <a:r>
              <a:rPr lang="en-US" dirty="0">
                <a:solidFill>
                  <a:srgbClr val="7030A0"/>
                </a:solidFill>
              </a:rPr>
              <a:t>1</a:t>
            </a:r>
            <a:r>
              <a:rPr lang="en-US" dirty="0"/>
              <a:t>   </a:t>
            </a:r>
            <a:r>
              <a:rPr lang="en-US" dirty="0">
                <a:solidFill>
                  <a:schemeClr val="accent1"/>
                </a:solidFill>
              </a:rPr>
              <a:t>-2.0</a:t>
            </a:r>
            <a:r>
              <a:rPr lang="en-US" b="1" dirty="0">
                <a:solidFill>
                  <a:srgbClr val="0070C0"/>
                </a:solidFill>
              </a:rPr>
              <a:t>" color=“red"&gt;&lt;/a-box&gt;</a:t>
            </a:r>
          </a:p>
          <a:p>
            <a:pPr marL="0" indent="0">
              <a:buNone/>
            </a:pPr>
            <a:r>
              <a:rPr lang="en-US" dirty="0"/>
              <a:t>    &lt;/a-scene&gt;</a:t>
            </a:r>
          </a:p>
          <a:p>
            <a:pPr marL="0" indent="0">
              <a:buNone/>
            </a:pPr>
            <a:r>
              <a:rPr lang="en-US" dirty="0"/>
              <a:t>  &lt;/body&gt;</a:t>
            </a:r>
          </a:p>
          <a:p>
            <a:pPr marL="0" indent="0">
              <a:buNone/>
            </a:pPr>
            <a:r>
              <a:rPr lang="en-US" dirty="0"/>
              <a:t>&lt;/html&gt;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240132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80A489-0DE0-2146-07AC-716FE366EB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Design/debug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6E58437-F02E-527F-5695-8726A6DF8F79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0" y="1825625"/>
            <a:ext cx="5818581" cy="4801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indent="0">
              <a:buNone/>
            </a:pPr>
            <a:r>
              <a:rPr lang="en-US" dirty="0">
                <a:highlight>
                  <a:srgbClr val="00FFFF"/>
                </a:highlight>
              </a:rPr>
              <a:t>CTRL-ALT-I in browser</a:t>
            </a:r>
            <a:r>
              <a:rPr lang="en-US" dirty="0"/>
              <a:t>    for debugging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6C58D49-968F-F404-3361-8E985E5306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76395" y="2909479"/>
            <a:ext cx="3861612" cy="27544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056132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260739-36CE-BC4A-27C4-4FF2F0C3FB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Full visual representation = mesh + texture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703B64-77DE-A506-1049-74E3492B36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https://www.shadedrelief.com/natural3/pages/textures.html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u="sng" dirty="0"/>
              <a:t>a-sphere.html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&lt;a-scene&gt;</a:t>
            </a:r>
          </a:p>
          <a:p>
            <a:pPr marL="0" indent="0">
              <a:buNone/>
            </a:pPr>
            <a:r>
              <a:rPr lang="en-US" dirty="0"/>
              <a:t>      &lt;a-sphere position="0  3  -5" </a:t>
            </a:r>
            <a:r>
              <a:rPr lang="en-US" dirty="0" err="1"/>
              <a:t>src</a:t>
            </a:r>
            <a:r>
              <a:rPr lang="en-US" dirty="0"/>
              <a:t>="./IMAGES/waternormals.jpg" 			  radius="1"&gt;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      &lt;/a-sphere&gt;</a:t>
            </a:r>
          </a:p>
          <a:p>
            <a:pPr marL="0" indent="0">
              <a:spcBef>
                <a:spcPts val="0"/>
              </a:spcBef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&lt;/a-scene&gt;</a:t>
            </a:r>
          </a:p>
        </p:txBody>
      </p:sp>
    </p:spTree>
    <p:extLst>
      <p:ext uri="{BB962C8B-B14F-4D97-AF65-F5344CB8AC3E}">
        <p14:creationId xmlns:p14="http://schemas.microsoft.com/office/powerpoint/2010/main" val="302311860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260739-36CE-BC4A-27C4-4FF2F0C3FB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Full visual representation = mesh + texture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703B64-77DE-A506-1049-74E3492B36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accent5">
                    <a:lumMod val="50000"/>
                  </a:schemeClr>
                </a:solidFill>
              </a:rPr>
              <a:t>A-box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&lt;a-scene&gt;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800" dirty="0"/>
              <a:t> &lt;a-assets&gt;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800" dirty="0"/>
              <a:t>	&lt;</a:t>
            </a:r>
            <a:r>
              <a:rPr lang="en-US" sz="2800" dirty="0" err="1"/>
              <a:t>img</a:t>
            </a:r>
            <a:r>
              <a:rPr lang="en-US" sz="2800" dirty="0"/>
              <a:t> </a:t>
            </a:r>
            <a:r>
              <a:rPr lang="en-US" sz="2800" dirty="0">
                <a:solidFill>
                  <a:srgbClr val="FF0000"/>
                </a:solidFill>
              </a:rPr>
              <a:t>id="</a:t>
            </a:r>
            <a:r>
              <a:rPr lang="en-US" sz="2800" dirty="0" err="1">
                <a:solidFill>
                  <a:srgbClr val="FF0000"/>
                </a:solidFill>
              </a:rPr>
              <a:t>boxTexture</a:t>
            </a:r>
            <a:r>
              <a:rPr lang="en-US" sz="2800" dirty="0">
                <a:solidFill>
                  <a:srgbClr val="FF0000"/>
                </a:solidFill>
              </a:rPr>
              <a:t>" </a:t>
            </a:r>
            <a:r>
              <a:rPr lang="en-US" sz="2800" dirty="0" err="1"/>
              <a:t>src</a:t>
            </a:r>
            <a:r>
              <a:rPr lang="en-US" sz="2800" dirty="0"/>
              <a:t>=“./IMAGES/…"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800" dirty="0"/>
              <a:t>&lt;/a-assets&gt;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&lt;a-box position="0 3 -5" </a:t>
            </a:r>
            <a:r>
              <a:rPr lang="en-US" dirty="0" err="1"/>
              <a:t>src</a:t>
            </a:r>
            <a:r>
              <a:rPr lang="en-US" dirty="0"/>
              <a:t>= </a:t>
            </a:r>
            <a:r>
              <a:rPr lang="en-US" dirty="0">
                <a:solidFill>
                  <a:srgbClr val="FF0000"/>
                </a:solidFill>
              </a:rPr>
              <a:t>"#</a:t>
            </a:r>
            <a:r>
              <a:rPr lang="en-US" sz="2800" dirty="0" err="1">
                <a:solidFill>
                  <a:srgbClr val="FF0000"/>
                </a:solidFill>
              </a:rPr>
              <a:t>boxTexture</a:t>
            </a:r>
            <a:r>
              <a:rPr lang="en-US" dirty="0">
                <a:solidFill>
                  <a:srgbClr val="FF0000"/>
                </a:solidFill>
              </a:rPr>
              <a:t>" </a:t>
            </a:r>
            <a:r>
              <a:rPr lang="en-US" dirty="0"/>
              <a:t>radius="1"&gt;&lt;/a-box&gt;</a:t>
            </a:r>
          </a:p>
          <a:p>
            <a:pPr marL="0" indent="0">
              <a:spcBef>
                <a:spcPts val="0"/>
              </a:spcBef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&lt;/a-scene&gt;</a:t>
            </a:r>
          </a:p>
        </p:txBody>
      </p:sp>
    </p:spTree>
    <p:extLst>
      <p:ext uri="{BB962C8B-B14F-4D97-AF65-F5344CB8AC3E}">
        <p14:creationId xmlns:p14="http://schemas.microsoft.com/office/powerpoint/2010/main" val="9688209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859745-9910-DD37-8812-5CD4D7F20F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0070C0"/>
                </a:solidFill>
              </a:rPr>
              <a:t>Several geometric components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1F06FB-1A25-3FB9-145E-D9CEB945C3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9100" y="1838151"/>
            <a:ext cx="11353800" cy="465472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&lt;a-box position="-1   0.5   -3" rotation="0 45 0" color=“red"&gt;&lt;/a-box&gt;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&lt;a-sphere position="0   1.25   -5" radius="1.25" color=“blue“&gt;&lt;/a-sphere&gt;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&lt;a-sky color="#e9f7ff "&gt;&lt;/a-sky&gt;</a:t>
            </a:r>
          </a:p>
        </p:txBody>
      </p:sp>
    </p:spTree>
    <p:extLst>
      <p:ext uri="{BB962C8B-B14F-4D97-AF65-F5344CB8AC3E}">
        <p14:creationId xmlns:p14="http://schemas.microsoft.com/office/powerpoint/2010/main" val="215711980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859745-9910-DD37-8812-5CD4D7F20F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>
                <a:solidFill>
                  <a:srgbClr val="0070C0"/>
                </a:solidFill>
              </a:rPr>
              <a:t>Famous: Several </a:t>
            </a:r>
            <a:r>
              <a:rPr lang="en-US" b="1" dirty="0">
                <a:solidFill>
                  <a:srgbClr val="0070C0"/>
                </a:solidFill>
              </a:rPr>
              <a:t>geometric components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1F06FB-1A25-3FB9-145E-D9CEB945C3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1056" y="1585903"/>
            <a:ext cx="11353800" cy="4654724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&lt;a-box position="-1   0.5   -3" rotation="0 45 0" color=“red"&gt;</a:t>
            </a:r>
          </a:p>
          <a:p>
            <a:pPr marL="0" indent="0">
              <a:buNone/>
            </a:pPr>
            <a:r>
              <a:rPr lang="en-US" dirty="0"/>
              <a:t>&lt;/a-box&gt;</a:t>
            </a:r>
          </a:p>
          <a:p>
            <a:pPr marL="0" indent="0">
              <a:buNone/>
            </a:pPr>
            <a:r>
              <a:rPr lang="en-US" dirty="0"/>
              <a:t>&lt;a-sphere position="0   1.25   -5" radius="1.25" color=“blue“&gt;</a:t>
            </a:r>
          </a:p>
          <a:p>
            <a:pPr marL="0" indent="0">
              <a:buNone/>
            </a:pPr>
            <a:r>
              <a:rPr lang="en-US" dirty="0"/>
              <a:t>&lt;/a-sphere&gt;</a:t>
            </a:r>
          </a:p>
          <a:p>
            <a:pPr marL="0" indent="0">
              <a:buNone/>
            </a:pPr>
            <a:r>
              <a:rPr lang="en-US" dirty="0"/>
              <a:t>&lt;a-cylinder position="1   0.75   -3" radius="0.5" height="1.5" color=“purple"&gt;</a:t>
            </a:r>
          </a:p>
          <a:p>
            <a:pPr marL="0" indent="0">
              <a:buNone/>
            </a:pPr>
            <a:r>
              <a:rPr lang="en-US" dirty="0"/>
              <a:t>&lt;/a-cylinder&gt;</a:t>
            </a:r>
          </a:p>
          <a:p>
            <a:pPr marL="0" indent="0">
              <a:buNone/>
            </a:pPr>
            <a:r>
              <a:rPr lang="en-US" dirty="0"/>
              <a:t>&lt;a-plane position="0   0   -4" </a:t>
            </a:r>
            <a:r>
              <a:rPr lang="en-US" dirty="0">
                <a:solidFill>
                  <a:schemeClr val="accent1"/>
                </a:solidFill>
              </a:rPr>
              <a:t>rotation="-90 0 0" </a:t>
            </a:r>
            <a:r>
              <a:rPr lang="en-US" dirty="0"/>
              <a:t>width="4" height="4" color=“3cb371"&gt;&lt;/a-plane&gt;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&lt;a-sky color="#e9f7ff "&gt;&lt;/a-sky&gt;</a:t>
            </a:r>
          </a:p>
        </p:txBody>
      </p:sp>
    </p:spTree>
    <p:extLst>
      <p:ext uri="{BB962C8B-B14F-4D97-AF65-F5344CB8AC3E}">
        <p14:creationId xmlns:p14="http://schemas.microsoft.com/office/powerpoint/2010/main" val="43746035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CCC53F79-2BE7-9D02-E76B-9170C74561D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20475" r="-1" b="-1"/>
          <a:stretch/>
        </p:blipFill>
        <p:spPr>
          <a:xfrm>
            <a:off x="1524" y="10"/>
            <a:ext cx="12188952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81796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2336</TotalTime>
  <Words>740</Words>
  <Application>Microsoft Office PowerPoint</Application>
  <PresentationFormat>Widescreen</PresentationFormat>
  <Paragraphs>134</Paragraphs>
  <Slides>18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5" baseType="lpstr">
      <vt:lpstr>Meiryo</vt:lpstr>
      <vt:lpstr>Aptos</vt:lpstr>
      <vt:lpstr>Arial</vt:lpstr>
      <vt:lpstr>Calibri</vt:lpstr>
      <vt:lpstr>Calibri Light</vt:lpstr>
      <vt:lpstr>Cambria Math</vt:lpstr>
      <vt:lpstr>office theme</vt:lpstr>
      <vt:lpstr>AR/VR Workshop Basic geometric objects</vt:lpstr>
      <vt:lpstr>Module demo highlights: 3D geometric shapes </vt:lpstr>
      <vt:lpstr>Outline</vt:lpstr>
      <vt:lpstr>3D images</vt:lpstr>
      <vt:lpstr>VR Images</vt:lpstr>
      <vt:lpstr>Viewing VR Images</vt:lpstr>
      <vt:lpstr>Scenes and geometric objects</vt:lpstr>
      <vt:lpstr>Geometric terms</vt:lpstr>
      <vt:lpstr>Pre-defined A-Frame geometries </vt:lpstr>
      <vt:lpstr>Textures</vt:lpstr>
      <vt:lpstr>A-box – in a scene</vt:lpstr>
      <vt:lpstr>A-box</vt:lpstr>
      <vt:lpstr>Design/debug</vt:lpstr>
      <vt:lpstr>Full visual representation = mesh + texture</vt:lpstr>
      <vt:lpstr>Full visual representation = mesh + texture</vt:lpstr>
      <vt:lpstr>Several geometric components</vt:lpstr>
      <vt:lpstr>Famous: Several geometric components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/>
  <cp:lastModifiedBy>Bradford, Phillip</cp:lastModifiedBy>
  <cp:revision>257</cp:revision>
  <cp:lastPrinted>2024-05-23T21:19:58Z</cp:lastPrinted>
  <dcterms:created xsi:type="dcterms:W3CDTF">2023-10-08T23:58:23Z</dcterms:created>
  <dcterms:modified xsi:type="dcterms:W3CDTF">2026-05-19T18:53:29Z</dcterms:modified>
</cp:coreProperties>
</file>