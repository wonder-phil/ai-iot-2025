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81" r:id="rId2"/>
    <p:sldId id="259" r:id="rId3"/>
    <p:sldId id="261" r:id="rId4"/>
    <p:sldId id="274" r:id="rId5"/>
    <p:sldId id="275" r:id="rId6"/>
    <p:sldId id="273" r:id="rId7"/>
    <p:sldId id="276" r:id="rId8"/>
    <p:sldId id="277" r:id="rId9"/>
    <p:sldId id="278" r:id="rId10"/>
    <p:sldId id="279" r:id="rId11"/>
    <p:sldId id="294" r:id="rId12"/>
    <p:sldId id="280" r:id="rId13"/>
    <p:sldId id="29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0" autoAdjust="0"/>
    <p:restoredTop sz="79312" autoAdjust="0"/>
  </p:normalViewPr>
  <p:slideViewPr>
    <p:cSldViewPr snapToGrid="0">
      <p:cViewPr varScale="1">
        <p:scale>
          <a:sx n="70" d="100"/>
          <a:sy n="70" d="100"/>
        </p:scale>
        <p:origin x="3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C22E7C-05FA-4B07-9A3E-26967016A603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D85EB0-CA0C-4149-A730-6931A131D0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13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AFRAME.registerComponent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('my-component', {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init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// Throttle the tick to run roughly once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// every 1000ms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(1 second)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this.throttledFunction</a:t>
            </a:r>
            <a:r>
              <a:rPr lang="en-US" b="1" u="none" strike="noStrike" dirty="0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= 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AFRAME.utils.throttleTick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this.tick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					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1000, this); },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tick: function (time,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	console.log('Time execution:’, 						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});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D85EB0-CA0C-4149-A730-6931A131D09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80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Defining A-Frame components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1875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Motivation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Parts of A-frame components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Defining a new a-frame component 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763E2-324A-C8CF-91A4-3F6EE9C6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  <a:cs typeface="Calibri Light"/>
              </a:rPr>
              <a:t>Component schema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E68F0-47E1-542C-346B-86B74C346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 err="1">
                <a:latin typeface="Consolas"/>
                <a:cs typeface="Calibri" panose="020F0502020204030204"/>
              </a:rPr>
              <a:t>AFRAME.registerComponent</a:t>
            </a:r>
            <a:r>
              <a:rPr lang="en-US" dirty="0">
                <a:latin typeface="Consolas"/>
                <a:cs typeface="Calibri" panose="020F0502020204030204"/>
              </a:rPr>
              <a:t>('my-box', {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 </a:t>
            </a:r>
            <a:r>
              <a:rPr lang="en-US" b="1" dirty="0">
                <a:solidFill>
                  <a:srgbClr val="0070C0"/>
                </a:solidFill>
                <a:latin typeface="Consolas"/>
                <a:cs typeface="Calibri" panose="020F0502020204030204"/>
              </a:rPr>
              <a:t>schema</a:t>
            </a:r>
            <a:r>
              <a:rPr lang="en-US" dirty="0">
                <a:latin typeface="Consolas"/>
                <a:cs typeface="Calibri" panose="020F0502020204030204"/>
              </a:rPr>
              <a:t>: {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width: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height: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depth: {type: 'number', default: 1},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   color: {type: 'color', default: '#AAA'}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  }</a:t>
            </a:r>
            <a:br>
              <a:rPr lang="en-US" dirty="0">
                <a:latin typeface="Consolas"/>
                <a:cs typeface="Calibri" panose="020F0502020204030204"/>
              </a:rPr>
            </a:br>
            <a:r>
              <a:rPr lang="en-US" dirty="0">
                <a:latin typeface="Consolas"/>
                <a:cs typeface="Calibri" panose="020F0502020204030204"/>
              </a:rPr>
              <a:t>});</a:t>
            </a:r>
            <a:endParaRPr lang="en-US" dirty="0"/>
          </a:p>
          <a:p>
            <a:pPr marL="0" indent="0">
              <a:buNone/>
            </a:pPr>
            <a:endParaRPr lang="en-US" dirty="0">
              <a:cs typeface="Calibri" panose="020F0502020204030204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6A8849-B399-1034-C4A1-05F932E4A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This content is protected and may not be shared, uploaded, or distributed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2ABA9-A571-E4F2-CB54-D06FA0A4B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60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FE3D0-8EBE-3F43-1AD0-7A677610F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 component - </a:t>
            </a:r>
            <a:r>
              <a:rPr lang="en-US" b="1" dirty="0">
                <a:solidFill>
                  <a:srgbClr val="FF0000"/>
                </a:solidFill>
              </a:rPr>
              <a:t>a-box-no-visible-events.html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053B-CEFA-9A8B-2BEE-3508E0727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9334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AFRAME.registerComponent</a:t>
            </a:r>
            <a:r>
              <a:rPr lang="en-US" dirty="0"/>
              <a:t>(‘</a:t>
            </a:r>
            <a:r>
              <a:rPr lang="en-US" b="1" dirty="0"/>
              <a:t>my-comp-test</a:t>
            </a:r>
            <a:r>
              <a:rPr lang="en-US" dirty="0"/>
              <a:t>', {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 err="1">
                <a:solidFill>
                  <a:srgbClr val="0070C0"/>
                </a:solidFill>
              </a:rPr>
              <a:t>init</a:t>
            </a:r>
            <a:r>
              <a:rPr lang="en-US" b="1" dirty="0">
                <a:solidFill>
                  <a:srgbClr val="0070C0"/>
                </a:solidFill>
              </a:rPr>
              <a:t>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console.log(“Hello world");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},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>
                <a:solidFill>
                  <a:srgbClr val="0070C0"/>
                </a:solidFill>
              </a:rPr>
              <a:t>tick: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console.log("click");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},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b="1" dirty="0">
                <a:solidFill>
                  <a:srgbClr val="0070C0"/>
                </a:solidFill>
              </a:rPr>
              <a:t>remove: function() {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  console.log("Goodnight moon!");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   }</a:t>
            </a:r>
          </a:p>
          <a:p>
            <a:pPr marL="0" indent="0">
              <a:buNone/>
            </a:pPr>
            <a:r>
              <a:rPr lang="en-US" dirty="0"/>
              <a:t> });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F1B632-DE13-B381-F2A5-78E81CD5CCB9}"/>
              </a:ext>
            </a:extLst>
          </p:cNvPr>
          <p:cNvSpPr/>
          <p:nvPr/>
        </p:nvSpPr>
        <p:spPr>
          <a:xfrm>
            <a:off x="6942481" y="2932085"/>
            <a:ext cx="4542183" cy="23804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Must invoke </a:t>
            </a:r>
            <a:r>
              <a:rPr lang="en-US" b="1" u="sng" dirty="0"/>
              <a:t>my-comp-test</a:t>
            </a:r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r>
              <a:rPr lang="en-US" b="1" dirty="0"/>
              <a:t>&lt;a-box id="one" position="-2 0 -7" color="red" </a:t>
            </a:r>
            <a:r>
              <a:rPr lang="en-US" b="1" u="sng" dirty="0"/>
              <a:t>my-comp-test</a:t>
            </a:r>
            <a:r>
              <a:rPr lang="en-US" b="1" dirty="0"/>
              <a:t>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2560189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E6F10-78FC-DE35-9794-1FB5649F9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Methods in action – put &lt;script&gt; in &lt;body&gt;</a:t>
            </a:r>
            <a:br>
              <a:rPr lang="en-US" b="1" dirty="0">
                <a:solidFill>
                  <a:srgbClr val="0070C0"/>
                </a:solidFill>
              </a:rPr>
            </a:br>
            <a:r>
              <a:rPr lang="en-US" b="1" dirty="0">
                <a:solidFill>
                  <a:srgbClr val="0070C0"/>
                </a:solidFill>
              </a:rPr>
              <a:t>For </a:t>
            </a:r>
            <a:r>
              <a:rPr lang="en-US" b="1" dirty="0" err="1">
                <a:solidFill>
                  <a:srgbClr val="0070C0"/>
                </a:solidFill>
              </a:rPr>
              <a:t>AFRAME.registerComponent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>
                <a:solidFill>
                  <a:srgbClr val="FF0000"/>
                </a:solidFill>
              </a:rPr>
              <a:t>Not in </a:t>
            </a:r>
            <a:r>
              <a:rPr lang="en-US" b="1" dirty="0" err="1">
                <a:solidFill>
                  <a:srgbClr val="FF0000"/>
                </a:solidFill>
              </a:rPr>
              <a:t>hdr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0144C-C655-270C-CB5F-DA6E54875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</a:t>
            </a:r>
            <a:r>
              <a:rPr lang="en-US" sz="8000" dirty="0"/>
              <a:t>&lt;body&gt;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</a:t>
            </a:r>
            <a:r>
              <a:rPr lang="en-US" sz="8000" dirty="0" err="1"/>
              <a:t>AFRAME.registerComponent</a:t>
            </a:r>
            <a:r>
              <a:rPr lang="en-US" sz="8000" dirty="0"/>
              <a:t>(‘</a:t>
            </a:r>
            <a:r>
              <a:rPr lang="en-US" sz="8000" dirty="0">
                <a:solidFill>
                  <a:srgbClr val="0070C0"/>
                </a:solidFill>
              </a:rPr>
              <a:t>say-hello</a:t>
            </a:r>
            <a:r>
              <a:rPr lang="en-US" sz="8000" dirty="0"/>
              <a:t>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</a:t>
            </a:r>
            <a:r>
              <a:rPr lang="en-US" sz="8000" b="1" dirty="0" err="1">
                <a:solidFill>
                  <a:srgbClr val="0070C0"/>
                </a:solidFill>
              </a:rPr>
              <a:t>init</a:t>
            </a:r>
            <a:r>
              <a:rPr lang="en-US" sz="8000" dirty="0"/>
              <a:t>: function()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  console.log("HELLO");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</a:t>
            </a:r>
            <a:r>
              <a:rPr lang="en-US" sz="8000" b="1" dirty="0">
                <a:solidFill>
                  <a:srgbClr val="0070C0"/>
                </a:solidFill>
              </a:rPr>
              <a:t>tick</a:t>
            </a:r>
            <a:r>
              <a:rPr lang="en-US" sz="8000" dirty="0"/>
              <a:t>: function()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  console.log(“tick");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  } 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&lt;/script&gt;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&lt;a-scene&gt;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	 &lt;a-entity </a:t>
            </a:r>
            <a:r>
              <a:rPr lang="en-US" sz="8000" dirty="0">
                <a:solidFill>
                  <a:srgbClr val="0070C0"/>
                </a:solidFill>
              </a:rPr>
              <a:t>say-hello</a:t>
            </a:r>
            <a:r>
              <a:rPr lang="en-US" sz="8000" dirty="0"/>
              <a:t>&gt;&lt;/a-entity&gt;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    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000" dirty="0"/>
              <a:t>  &lt;/body&gt;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C5D037-F5EA-12E0-7E0E-25FC50F9DF95}"/>
              </a:ext>
            </a:extLst>
          </p:cNvPr>
          <p:cNvSpPr/>
          <p:nvPr/>
        </p:nvSpPr>
        <p:spPr>
          <a:xfrm>
            <a:off x="6932543" y="3344517"/>
            <a:ext cx="3548270" cy="16995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hello-world-</a:t>
            </a:r>
            <a:r>
              <a:rPr lang="en-US"/>
              <a:t>component.html</a:t>
            </a:r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C7978D84-5CC4-BB59-E3C0-212F54537333}"/>
              </a:ext>
            </a:extLst>
          </p:cNvPr>
          <p:cNvSpPr/>
          <p:nvPr/>
        </p:nvSpPr>
        <p:spPr>
          <a:xfrm>
            <a:off x="3697357" y="3737113"/>
            <a:ext cx="2559326" cy="819978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Ever frame update</a:t>
            </a:r>
          </a:p>
        </p:txBody>
      </p:sp>
    </p:spTree>
    <p:extLst>
      <p:ext uri="{BB962C8B-B14F-4D97-AF65-F5344CB8AC3E}">
        <p14:creationId xmlns:p14="http://schemas.microsoft.com/office/powerpoint/2010/main" val="2397543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CC49E-6B1B-AD0B-25E0-9C57C78BE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  <a:cs typeface="Calibri Light"/>
              </a:rPr>
              <a:t>Basic of an a-frame component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6101C-B7C0-2860-35F1-EFF33EA47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0962"/>
          </a:xfrm>
        </p:spPr>
        <p:txBody>
          <a:bodyPr>
            <a:normAutofit/>
          </a:bodyPr>
          <a:lstStyle/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Name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a unique name with a hyphen in it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Schema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Defines the data or properties. It sets the types, default values, and other characteristics of the data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Init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This function is called when a component initialized. 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Update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component’s data changes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Tick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on every render loop or "frame update" of the scene 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Remove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component is removed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374151"/>
                </a:solidFill>
                <a:effectLst/>
                <a:latin typeface="Söhne"/>
              </a:rPr>
              <a:t>Pause &amp; Play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: Called when the scene or entity is paused or played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459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B43C-7AB4-9845-E22B-9FE5BF15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Another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F020-86BA-8E32-E1E9-D017EB38A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		</a:t>
            </a:r>
            <a:r>
              <a:rPr lang="en-US" dirty="0" err="1"/>
              <a:t>AFRAME.registerComponent</a:t>
            </a:r>
            <a:r>
              <a:rPr lang="en-US" dirty="0"/>
              <a:t>('</a:t>
            </a:r>
            <a:r>
              <a:rPr lang="en-US" b="1" dirty="0">
                <a:solidFill>
                  <a:srgbClr val="FF0000"/>
                </a:solidFill>
              </a:rPr>
              <a:t>simple-comp</a:t>
            </a:r>
            <a:r>
              <a:rPr lang="en-US" dirty="0"/>
              <a:t>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</a:t>
            </a:r>
            <a:r>
              <a:rPr lang="en-US" dirty="0" err="1"/>
              <a:t>init</a:t>
            </a:r>
            <a:r>
              <a:rPr lang="en-US" dirty="0"/>
              <a:t>: function () { console.log("Yes: simple-comp");  }  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dirty="0" err="1"/>
              <a:t>AFRAME.registerComponent</a:t>
            </a:r>
            <a:r>
              <a:rPr lang="en-US" dirty="0"/>
              <a:t>('other-comp',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schema: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	message: {type: '</a:t>
            </a:r>
            <a:r>
              <a:rPr lang="en-US" dirty="0" err="1"/>
              <a:t>string',default</a:t>
            </a:r>
            <a:r>
              <a:rPr lang="en-US" dirty="0"/>
              <a:t>: "Good day!"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  </a:t>
            </a:r>
            <a:r>
              <a:rPr lang="en-US" dirty="0" err="1"/>
              <a:t>init</a:t>
            </a:r>
            <a:r>
              <a:rPr lang="en-US" dirty="0"/>
              <a:t>: function () { console.log(</a:t>
            </a:r>
            <a:r>
              <a:rPr lang="en-US" dirty="0" err="1"/>
              <a:t>this.data.message</a:t>
            </a:r>
            <a:r>
              <a:rPr lang="en-US" dirty="0"/>
              <a:t>);  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dirty="0">
                <a:solidFill>
                  <a:srgbClr val="0070C0"/>
                </a:solidFill>
              </a:rPr>
              <a:t>multiple: true   </a:t>
            </a:r>
            <a:r>
              <a:rPr lang="en-US" dirty="0"/>
              <a:t>});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276914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B43C-7AB4-9845-E22B-9FE5BF15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Another Example, </a:t>
            </a:r>
            <a:r>
              <a:rPr lang="en-US" b="1" dirty="0" err="1">
                <a:solidFill>
                  <a:srgbClr val="0070C0"/>
                </a:solidFill>
              </a:rPr>
              <a:t>cont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F020-86BA-8E32-E1E9-D017EB38A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44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&lt;a-scene&gt;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</a:t>
            </a:r>
            <a:r>
              <a:rPr lang="en-US" sz="4400" dirty="0">
                <a:solidFill>
                  <a:srgbClr val="FF0000"/>
                </a:solidFill>
              </a:rPr>
              <a:t>simple-comp</a:t>
            </a:r>
            <a:r>
              <a:rPr lang="en-US" sz="4400" dirty="0"/>
              <a:t>&gt;&lt;/a-entity&gt;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other-comp&gt;&lt;/a-entity&gt;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   &lt;a-entity </a:t>
            </a:r>
            <a:r>
              <a:rPr lang="en-US" sz="4400" dirty="0">
                <a:solidFill>
                  <a:srgbClr val="FF0000"/>
                </a:solidFill>
              </a:rPr>
              <a:t>simple-comp</a:t>
            </a:r>
            <a:r>
              <a:rPr lang="en-US" sz="4400" dirty="0"/>
              <a:t>="message: Hello, Metaverse!"&gt;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	&lt;/a-entity&gt;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35698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356C-484A-AB76-6132-5AAD54D2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4" y="34000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Attaching a new component to a scene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0236-2515-D6E4-7C48-0874DD970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 err="1"/>
              <a:t>AFRAME.registerComponent</a:t>
            </a:r>
            <a:r>
              <a:rPr lang="en-US" sz="2800" dirty="0"/>
              <a:t>('new-comp',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	  </a:t>
            </a:r>
            <a:r>
              <a:rPr lang="en-US" sz="2800" dirty="0" err="1"/>
              <a:t>init</a:t>
            </a:r>
            <a:r>
              <a:rPr lang="en-US" sz="2800" dirty="0"/>
              <a:t>: function 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		</a:t>
            </a:r>
            <a:r>
              <a:rPr lang="en-US" b="1" dirty="0">
                <a:solidFill>
                  <a:srgbClr val="0070C0"/>
                </a:solidFill>
              </a:rPr>
              <a:t>var</a:t>
            </a:r>
            <a:r>
              <a:rPr lang="en-US" dirty="0">
                <a:solidFill>
                  <a:srgbClr val="0070C0"/>
                </a:solidFill>
              </a:rPr>
              <a:t> sceneE1 = this.e1;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	}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/>
              <a:t>});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7983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C5AD-3F49-0BD0-C02A-147A8E20E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On-click - </a:t>
            </a:r>
            <a:r>
              <a:rPr lang="en-US" dirty="0">
                <a:solidFill>
                  <a:srgbClr val="FF0000"/>
                </a:solidFill>
              </a:rPr>
              <a:t>a-boxs-events-test.html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E6BF6-8EE9-3397-E431-74360E5A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 err="1"/>
              <a:t>AFRAME.registerComponent</a:t>
            </a:r>
            <a:r>
              <a:rPr lang="en-US" dirty="0"/>
              <a:t>('</a:t>
            </a:r>
            <a:r>
              <a:rPr lang="en-US" b="1" dirty="0"/>
              <a:t>my-color-toggle</a:t>
            </a:r>
            <a:r>
              <a:rPr lang="en-US" dirty="0"/>
              <a:t>',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init</a:t>
            </a:r>
            <a:r>
              <a:rPr lang="en-US" dirty="0"/>
              <a:t>: function() {</a:t>
            </a:r>
          </a:p>
          <a:p>
            <a:pPr marL="0" indent="0">
              <a:buNone/>
            </a:pPr>
            <a:r>
              <a:rPr lang="en-US" dirty="0"/>
              <a:t>		let e1 = this.e1;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this.toggleColor</a:t>
            </a:r>
            <a:r>
              <a:rPr lang="en-US" dirty="0"/>
              <a:t> = function() { // adding a method</a:t>
            </a:r>
          </a:p>
          <a:p>
            <a:pPr marL="0" indent="0">
              <a:buNone/>
            </a:pPr>
            <a:r>
              <a:rPr lang="en-US" dirty="0"/>
              <a:t>			e1.setAttribute('</a:t>
            </a:r>
            <a:r>
              <a:rPr lang="en-US" dirty="0" err="1"/>
              <a:t>color','orange</a:t>
            </a:r>
            <a:r>
              <a:rPr lang="en-US" dirty="0"/>
              <a:t>');</a:t>
            </a:r>
          </a:p>
          <a:p>
            <a:pPr marL="0" indent="0">
              <a:buNone/>
            </a:pPr>
            <a:r>
              <a:rPr lang="en-US" dirty="0"/>
              <a:t>		};</a:t>
            </a:r>
          </a:p>
          <a:p>
            <a:pPr marL="0" indent="0">
              <a:buNone/>
            </a:pPr>
            <a:r>
              <a:rPr lang="en-US" dirty="0"/>
              <a:t>			</a:t>
            </a:r>
          </a:p>
          <a:p>
            <a:pPr marL="0" indent="0">
              <a:buNone/>
            </a:pPr>
            <a:r>
              <a:rPr lang="en-US" dirty="0"/>
              <a:t>	this.e1.addEventListener('click', </a:t>
            </a:r>
            <a:r>
              <a:rPr lang="en-US" dirty="0" err="1"/>
              <a:t>this.toggleColor</a:t>
            </a:r>
            <a:r>
              <a:rPr lang="en-US" dirty="0"/>
              <a:t>, { passive: true });</a:t>
            </a:r>
          </a:p>
          <a:p>
            <a:pPr marL="0" indent="0">
              <a:buNone/>
            </a:pPr>
            <a:r>
              <a:rPr lang="en-US" dirty="0"/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684332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3774E-A0E3-807C-D00C-184DE1040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"/>
            <a:ext cx="10515600" cy="58340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AFRAME.registerComponent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('my-component', {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effectLst/>
                <a:latin typeface="Courier New" panose="02070309020205020404" pitchFamily="49" charset="0"/>
              </a:rPr>
              <a:t>init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// Throttle the tick to run roughly once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// every 1000ms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(1 second)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this.throttledFunction</a:t>
            </a:r>
            <a:r>
              <a:rPr lang="en-US" b="1" u="none" strike="noStrike" dirty="0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= 	</a:t>
            </a:r>
            <a:r>
              <a:rPr lang="en-US" b="1" u="none" strike="noStrike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</a:rPr>
              <a:t>AFRAME.utils.throttleTick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(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this.tick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						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1000, this);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</a:rPr>
              <a:t>	</a:t>
            </a:r>
            <a:r>
              <a:rPr lang="en-US" b="1" u="none" strike="noStrike" dirty="0">
                <a:effectLst/>
                <a:latin typeface="Courier New" panose="02070309020205020404" pitchFamily="49" charset="0"/>
              </a:rPr>
              <a:t>tick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: function (time,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	console.log('Time execution:’, 							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timeDelta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	} </a:t>
            </a:r>
          </a:p>
          <a:p>
            <a:pPr marL="0" indent="0">
              <a:buNone/>
            </a:pP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});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645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DF5DA-88BB-B01B-CF9D-04E19BA8C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But, wait!  We can animate!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a-cube-rotation-as-AFRAME.html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2CFDCE-646F-9ADC-7EA5-3682AC0B3D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089" y="2753140"/>
            <a:ext cx="10962484" cy="2849280"/>
          </a:xfrm>
        </p:spPr>
      </p:pic>
    </p:spTree>
    <p:extLst>
      <p:ext uri="{BB962C8B-B14F-4D97-AF65-F5344CB8AC3E}">
        <p14:creationId xmlns:p14="http://schemas.microsoft.com/office/powerpoint/2010/main" val="1101907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846</TotalTime>
  <Words>830</Words>
  <Application>Microsoft Office PowerPoint</Application>
  <PresentationFormat>Widescreen</PresentationFormat>
  <Paragraphs>119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Meiryo</vt:lpstr>
      <vt:lpstr>Arial</vt:lpstr>
      <vt:lpstr>Calibri</vt:lpstr>
      <vt:lpstr>Calibri Light</vt:lpstr>
      <vt:lpstr>Consolas</vt:lpstr>
      <vt:lpstr>Courier New</vt:lpstr>
      <vt:lpstr>Söhne</vt:lpstr>
      <vt:lpstr>office theme</vt:lpstr>
      <vt:lpstr>AR/VR Workshop Defining A-Frame components</vt:lpstr>
      <vt:lpstr>Outline</vt:lpstr>
      <vt:lpstr>Component schema</vt:lpstr>
      <vt:lpstr>A component - a-box-no-visible-events.html</vt:lpstr>
      <vt:lpstr>Methods in action – put &lt;script&gt; in &lt;body&gt; For AFRAME.registerComponent (Not in hdr)</vt:lpstr>
      <vt:lpstr>Basic of an a-frame component</vt:lpstr>
      <vt:lpstr>Another Example</vt:lpstr>
      <vt:lpstr>Another Example, cont</vt:lpstr>
      <vt:lpstr>Attaching a new component to a scene</vt:lpstr>
      <vt:lpstr>On-click - a-boxs-events-test.html</vt:lpstr>
      <vt:lpstr>PowerPoint Presentation</vt:lpstr>
      <vt:lpstr>But, wait!  We can animate! a-cube-rotation-as-AFRAME.html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186</cp:revision>
  <dcterms:created xsi:type="dcterms:W3CDTF">2023-10-08T23:58:23Z</dcterms:created>
  <dcterms:modified xsi:type="dcterms:W3CDTF">2026-07-09T16:38:40Z</dcterms:modified>
</cp:coreProperties>
</file>